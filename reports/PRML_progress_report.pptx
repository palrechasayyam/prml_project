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73" r:id="rId2"/>
    <p:sldId id="266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EDB9D-D521-4C67-A958-282EEF06AEBC}" v="1803" dt="2025-11-02T17:59:41.94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51BC9-7927-46E0-85C7-0CEF25C8B99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9C320-D441-4700-8906-B106520EB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24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524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DE6B-E497-12CD-B6BF-5033AFBD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5C49E-5960-3C87-617C-42BFB0CC6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0D91C-125B-6171-25A5-2A5D773D0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2820A-B48E-AD62-54DE-DD0973C3A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013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E5822-CD44-F6B4-EBD1-6ABABC87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34D20-ADD2-4337-F301-4A8465C01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9EC15-9962-EA8E-9BD8-09712E8AF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4BE36-2086-B012-C36E-87178AED4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8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9119B-50B0-BDB8-BE30-191B00CFA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A3671-C295-3D25-7E3B-CBAF493FC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A376F-06B8-B05D-30F9-AF393B722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0DD6D-C3B6-5499-01CA-4F78C3CEF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618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B299-9BC9-AC63-34EB-2BBE8402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EA245-0597-7A7E-62CF-CC913E5F4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71897-49E2-A580-70F6-D3B47F38F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0D2A-F41D-6FA0-241B-D1CFC41D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053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4AB4B-1467-0884-C3C4-25B5E4486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A13D7-6629-EAF0-9EE5-8CE43A906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804BC-A414-CAA9-4511-B56D63904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40117-0BAB-F9CE-733B-04D9743A5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995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E5B10-6727-C96F-83CA-F4223F6E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DBE53-F580-116E-2FCB-68009DA69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067E1-82E0-2781-F9FD-E6CF6F446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F9EB9-0135-1F1C-46D2-FD71398C5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8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37F1E-488E-6828-13D8-ABA637AC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7C786-5712-4833-11E4-BE56B3EB2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1BD7E-EBCF-B1DC-01F1-EA3D4BD88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3BB4-058E-EB8C-FB77-49610D7F2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85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9B336-FBED-5A53-E7B4-44BBB5C8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D9F04-263E-9E35-C4FC-D016E94CC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F02BB-26CA-1F2D-BD73-0631D6FCC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DB719-94DC-33B0-9150-C120BC092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388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2F97-5460-0D27-C660-E4EB26C8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22DB3-0818-12D7-87F7-9A36194B1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EE909-6D54-9F86-D1D2-59BEC0014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E4587-C14B-158D-39B0-5E445B2E8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5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07F9-C999-85F7-674F-F3B488869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1B53D-1597-F510-EB45-EBA85A138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2AFAC-8F22-DDDE-A32E-0865E708E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F1903-B320-D6DE-F48B-CF31348F0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521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AADC8-5653-C226-BA4A-288A6FEB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421CE-B1F4-F54C-BF56-4EDCA8864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780E5-2BC1-C821-BC02-13CA44FDD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E30E7-E636-9212-A270-A7F3F0E59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9C320-D441-4700-8906-B106520EBF1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263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993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905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390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879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374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691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561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4181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927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5542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52986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68951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0587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8037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35851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9891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078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827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tuna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89" y="1426464"/>
            <a:ext cx="11710219" cy="1592039"/>
          </a:xfrm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rgbClr val="00FF00"/>
                </a:solidFill>
              </a:rPr>
              <a:t>Molecular Bioactivity Prediction 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0" i="1" dirty="0"/>
              <a:t>Sayyam Palrecha - </a:t>
            </a:r>
            <a:r>
              <a:rPr lang="en-US" sz="2000" b="0" dirty="0"/>
              <a:t>EE22BTECH11047</a:t>
            </a:r>
          </a:p>
        </p:txBody>
      </p:sp>
      <p:sp>
        <p:nvSpPr>
          <p:cNvPr id="2" name="Title 23">
            <a:extLst>
              <a:ext uri="{FF2B5EF4-FFF2-40B4-BE49-F238E27FC236}">
                <a16:creationId xmlns:a16="http://schemas.microsoft.com/office/drawing/2014/main" id="{36425CFD-6A5E-B6EE-3565-88800BF6361E}"/>
              </a:ext>
            </a:extLst>
          </p:cNvPr>
          <p:cNvSpPr txBox="1">
            <a:spLocks/>
          </p:cNvSpPr>
          <p:nvPr/>
        </p:nvSpPr>
        <p:spPr>
          <a:xfrm>
            <a:off x="240889" y="3813049"/>
            <a:ext cx="11710219" cy="6710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2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Prml Project Report –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1"/>
            <a:ext cx="11226390" cy="4936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What is Molecular Bioactivity Prediction?</a:t>
            </a:r>
          </a:p>
          <a:p>
            <a:r>
              <a:rPr lang="en-US" sz="1600" dirty="0"/>
              <a:t>Predicts whether a chemical compound will be </a:t>
            </a:r>
            <a:r>
              <a:rPr lang="en-US" sz="1600" b="1" dirty="0"/>
              <a:t>biologically active</a:t>
            </a:r>
            <a:r>
              <a:rPr lang="en-US" sz="1600" dirty="0"/>
              <a:t> against a specific target (e.g., protein, receptor).</a:t>
            </a:r>
          </a:p>
          <a:p>
            <a:r>
              <a:rPr lang="en-US" sz="1600" dirty="0"/>
              <a:t>Used in </a:t>
            </a:r>
            <a:r>
              <a:rPr lang="en-US" sz="1600" b="1" dirty="0"/>
              <a:t>early drug discovery</a:t>
            </a:r>
            <a:r>
              <a:rPr lang="en-US" sz="1600" dirty="0"/>
              <a:t> to filter out non-promising molecules before expensive laboratory experiments.</a:t>
            </a:r>
          </a:p>
          <a:p>
            <a:r>
              <a:rPr lang="en-US" sz="1600" dirty="0"/>
              <a:t>Input: molecular structure (SMILES/graph) → Output: </a:t>
            </a:r>
            <a:r>
              <a:rPr lang="en-US" sz="1600" b="1" dirty="0"/>
              <a:t>Active / Inactive (binary classification)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Drug discovery is </a:t>
            </a:r>
            <a:r>
              <a:rPr lang="en-US" sz="1600" b="1" dirty="0"/>
              <a:t>slow (10-12 years)</a:t>
            </a:r>
            <a:r>
              <a:rPr lang="en-US" sz="1600" dirty="0"/>
              <a:t> and </a:t>
            </a:r>
            <a:r>
              <a:rPr lang="en-US" sz="1600" b="1" dirty="0"/>
              <a:t>expensive. </a:t>
            </a:r>
            <a:r>
              <a:rPr lang="en-US" sz="1600" dirty="0"/>
              <a:t>Only </a:t>
            </a:r>
            <a:r>
              <a:rPr lang="en-US" sz="1600" b="1" dirty="0"/>
              <a:t>1 out of ~10,000 compounds</a:t>
            </a:r>
            <a:r>
              <a:rPr lang="en-US" sz="1600" dirty="0"/>
              <a:t> reaches the market.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Predicting bioactivity computationally allows:</a:t>
            </a:r>
          </a:p>
          <a:p>
            <a:pPr lvl="1"/>
            <a:r>
              <a:rPr lang="en-US" sz="1600" dirty="0"/>
              <a:t>Rapid screening of millions of molecules</a:t>
            </a:r>
          </a:p>
          <a:p>
            <a:pPr lvl="1"/>
            <a:r>
              <a:rPr lang="en-US" sz="1600" dirty="0"/>
              <a:t>Cost reduction in wet-lab experiments</a:t>
            </a:r>
          </a:p>
          <a:p>
            <a:pPr lvl="1"/>
            <a:r>
              <a:rPr lang="en-US" sz="1600" dirty="0"/>
              <a:t>Shortened discovery cycle</a:t>
            </a:r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i="1" dirty="0"/>
              <a:t>		</a:t>
            </a:r>
            <a:endParaRPr lang="en-US" sz="16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A2A242-5DF1-7E71-8EF6-DBCC314F3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162717"/>
              </p:ext>
            </p:extLst>
          </p:nvPr>
        </p:nvGraphicFramePr>
        <p:xfrm>
          <a:off x="5653547" y="3977736"/>
          <a:ext cx="6017343" cy="236559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24491">
                  <a:extLst>
                    <a:ext uri="{9D8B030D-6E8A-4147-A177-3AD203B41FA5}">
                      <a16:colId xmlns:a16="http://schemas.microsoft.com/office/drawing/2014/main" val="1228375597"/>
                    </a:ext>
                  </a:extLst>
                </a:gridCol>
                <a:gridCol w="2182009">
                  <a:extLst>
                    <a:ext uri="{9D8B030D-6E8A-4147-A177-3AD203B41FA5}">
                      <a16:colId xmlns:a16="http://schemas.microsoft.com/office/drawing/2014/main" val="982909939"/>
                    </a:ext>
                  </a:extLst>
                </a:gridCol>
                <a:gridCol w="2210843">
                  <a:extLst>
                    <a:ext uri="{9D8B030D-6E8A-4147-A177-3AD203B41FA5}">
                      <a16:colId xmlns:a16="http://schemas.microsoft.com/office/drawing/2014/main" val="1876277232"/>
                    </a:ext>
                  </a:extLst>
                </a:gridCol>
              </a:tblGrid>
              <a:tr h="291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How it 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Drawbacks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748422"/>
                  </a:ext>
                </a:extLst>
              </a:tr>
              <a:tr h="84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QSAR (Quantitative Structure–Activity Relationship)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Hand-crafted descriptors (physicochemical features, fingerprints) used with ML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Limited ability to generalize across chemical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638261"/>
                  </a:ext>
                </a:extLst>
              </a:tr>
              <a:tr h="74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Docking / molecular simulation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Physically places molecule in a target binding 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Computationally expensive; sensitive to conformation and scoring bias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497999"/>
                  </a:ext>
                </a:extLst>
              </a:tr>
              <a:tr h="486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Rule-based filters (Lipinski, PAINS)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Hard-coded heuristics to eliminate bad molecules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Not predictive; only filters candidates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448566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0BB3B88-4CAA-F29F-F860-ACEAFD26D211}"/>
              </a:ext>
            </a:extLst>
          </p:cNvPr>
          <p:cNvSpPr txBox="1">
            <a:spLocks/>
          </p:cNvSpPr>
          <p:nvPr/>
        </p:nvSpPr>
        <p:spPr>
          <a:xfrm>
            <a:off x="2251587" y="5762506"/>
            <a:ext cx="3401960" cy="683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i="1" dirty="0">
                <a:latin typeface="Avenir Next LT Pro Light" panose="020B0304020202020204" pitchFamily="34" charset="0"/>
              </a:rPr>
              <a:t>The table shows: Traditional Approaches (Classical/QSAR Methods)</a:t>
            </a:r>
          </a:p>
        </p:txBody>
      </p:sp>
    </p:spTree>
    <p:extLst>
      <p:ext uri="{BB962C8B-B14F-4D97-AF65-F5344CB8AC3E}">
        <p14:creationId xmlns:p14="http://schemas.microsoft.com/office/powerpoint/2010/main" val="107943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F064-CD31-2B91-03AE-26D92C47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0CB5-CB78-08FE-791D-DA15D9AE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MOTIVATION/context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6202-23E8-D1D5-8F2D-F6547288C2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1"/>
            <a:ext cx="11226390" cy="4936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We require a rapid, data-driven method to predict whether a compound is active or inactive before experimental validation.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Why Machine Learning (ML)?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0DD44A-D59E-EEDA-EBE6-8BF791135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532786"/>
              </p:ext>
            </p:extLst>
          </p:nvPr>
        </p:nvGraphicFramePr>
        <p:xfrm>
          <a:off x="521110" y="2348710"/>
          <a:ext cx="5294314" cy="228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647157">
                  <a:extLst>
                    <a:ext uri="{9D8B030D-6E8A-4147-A177-3AD203B41FA5}">
                      <a16:colId xmlns:a16="http://schemas.microsoft.com/office/drawing/2014/main" val="2301060613"/>
                    </a:ext>
                  </a:extLst>
                </a:gridCol>
                <a:gridCol w="2647157">
                  <a:extLst>
                    <a:ext uri="{9D8B030D-6E8A-4147-A177-3AD203B41FA5}">
                      <a16:colId xmlns:a16="http://schemas.microsoft.com/office/drawing/2014/main" val="1542665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What It Solves in Drug Discovery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56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Learns relationships between molecular structure and bioactivity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Eliminates manual feature engineering (rules/QSAR)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936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Fast inference (milliseconds per molecule)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Enables </a:t>
                      </a:r>
                      <a:r>
                        <a:rPr lang="en-US" sz="1400" b="1" dirty="0"/>
                        <a:t>virtual screening of millions of molecules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51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Works with small or moderate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Ideal when experimental data is 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91274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A70944-223D-6959-6E6C-73F0BAB4AC91}"/>
              </a:ext>
            </a:extLst>
          </p:cNvPr>
          <p:cNvSpPr txBox="1">
            <a:spLocks/>
          </p:cNvSpPr>
          <p:nvPr/>
        </p:nvSpPr>
        <p:spPr>
          <a:xfrm>
            <a:off x="6134304" y="1509610"/>
            <a:ext cx="6057695" cy="4936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b="1" dirty="0"/>
              <a:t>Why These Models?</a:t>
            </a:r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D139FB-61E0-B886-F1B9-FEAE8882E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171418"/>
              </p:ext>
            </p:extLst>
          </p:nvPr>
        </p:nvGraphicFramePr>
        <p:xfrm>
          <a:off x="6132513" y="2348710"/>
          <a:ext cx="5614989" cy="36576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871663">
                  <a:extLst>
                    <a:ext uri="{9D8B030D-6E8A-4147-A177-3AD203B41FA5}">
                      <a16:colId xmlns:a16="http://schemas.microsoft.com/office/drawing/2014/main" val="3808267768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1165569955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108788401"/>
                    </a:ext>
                  </a:extLst>
                </a:gridCol>
              </a:tblGrid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Why used in our project?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734346"/>
                  </a:ext>
                </a:extLst>
              </a:tr>
              <a:tr h="661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SVM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Strong baseline classifier for small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Maximizes margin between Active / Inactive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237637"/>
                  </a:ext>
                </a:extLst>
              </a:tr>
              <a:tr h="661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Random Forest (RF)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Handles noisy and imbalanced chemical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Robust, interpretable (feature importance)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731952"/>
                  </a:ext>
                </a:extLst>
              </a:tr>
              <a:tr h="661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XGBoost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Often </a:t>
                      </a:r>
                      <a:r>
                        <a:rPr lang="en-US" sz="1400" b="0" dirty="0"/>
                        <a:t>state-of-the-art</a:t>
                      </a:r>
                      <a:r>
                        <a:rPr lang="en-US" sz="1400" dirty="0"/>
                        <a:t> in tabular molecular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Learns complex/non-linear feature interactions; 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125946"/>
                  </a:ext>
                </a:extLst>
              </a:tr>
              <a:tr h="855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Graph Neural Networks (GNN)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Learns directly from </a:t>
                      </a:r>
                      <a:r>
                        <a:rPr lang="en-US" sz="1400" b="1" dirty="0"/>
                        <a:t>molecular graphs</a:t>
                      </a:r>
                      <a:r>
                        <a:rPr lang="en-US" sz="1400" dirty="0"/>
                        <a:t> instead of fingerprints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Captures chemical structure + topology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69224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0431FA-0E73-E693-CB65-55F32F7B7F9D}"/>
              </a:ext>
            </a:extLst>
          </p:cNvPr>
          <p:cNvSpPr txBox="1">
            <a:spLocks/>
          </p:cNvSpPr>
          <p:nvPr/>
        </p:nvSpPr>
        <p:spPr>
          <a:xfrm>
            <a:off x="521110" y="4944620"/>
            <a:ext cx="5879690" cy="1353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ML accelerates drug discovery by predicting molecular bioactivity without costly experiments.</a:t>
            </a:r>
          </a:p>
          <a:p>
            <a:r>
              <a:rPr lang="en-US" sz="1600" dirty="0"/>
              <a:t>GNNs go one step further — letting the model “see” the molecule as a </a:t>
            </a:r>
            <a:r>
              <a:rPr lang="en-US" sz="1600" b="1" dirty="0"/>
              <a:t>graph of atoms and bonds</a:t>
            </a:r>
            <a:r>
              <a:rPr lang="en-US" sz="1600" dirty="0"/>
              <a:t>, not just numbers.</a:t>
            </a: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9631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C7CC-BB00-7745-5586-A3EF8D60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7541-69D9-2D75-F92E-68CCB43F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PROBLEM STATEMENT &amp; PROJECT GOALS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96E7B6-A7AD-9D39-4A31-E7750C5731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1"/>
            <a:ext cx="11226390" cy="4936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Given molecular structures (SMILES), build a model that predicts bioactivity across multiple biological targets (Tox21 - 12 tasks), despite label imbalance and noisy data.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dirty="0"/>
              <a:t>Specific Goals</a:t>
            </a:r>
          </a:p>
          <a:p>
            <a:pPr lvl="1"/>
            <a:r>
              <a:rPr lang="en-US" sz="1600" dirty="0"/>
              <a:t>Train baseline ML models on fingerprint representations and optimize using imbalance handling + hyperparameter tuning</a:t>
            </a:r>
          </a:p>
          <a:p>
            <a:pPr lvl="1"/>
            <a:r>
              <a:rPr lang="en-US" sz="1600" dirty="0"/>
              <a:t>Advance to Deep Learning (GNNs) to learn directly from molecular graphs</a:t>
            </a:r>
          </a:p>
          <a:p>
            <a:pPr lvl="1"/>
            <a:r>
              <a:rPr lang="en-US" sz="1600" dirty="0"/>
              <a:t>Compare ML vs GNN performance and interpret learned molecular features</a:t>
            </a:r>
          </a:p>
          <a:p>
            <a:pPr lvl="1"/>
            <a:r>
              <a:rPr lang="en-US" sz="1600" dirty="0"/>
              <a:t>Develop an </a:t>
            </a:r>
            <a:r>
              <a:rPr lang="en-US" sz="1600" b="1" dirty="0"/>
              <a:t>SOTA-inspired hybrid modelling approach</a:t>
            </a:r>
            <a:r>
              <a:rPr lang="en-US" sz="1600" dirty="0"/>
              <a:t> to overcome ML/DL limitations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1DD7BC-9834-E44E-2404-9BCABA68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04" y="2019300"/>
            <a:ext cx="5153595" cy="2301240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A8B89CC-0350-2A45-933E-7769632EA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87014"/>
              </p:ext>
            </p:extLst>
          </p:nvPr>
        </p:nvGraphicFramePr>
        <p:xfrm>
          <a:off x="521109" y="2240280"/>
          <a:ext cx="5611404" cy="1859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05702">
                  <a:extLst>
                    <a:ext uri="{9D8B030D-6E8A-4147-A177-3AD203B41FA5}">
                      <a16:colId xmlns:a16="http://schemas.microsoft.com/office/drawing/2014/main" val="3936601600"/>
                    </a:ext>
                  </a:extLst>
                </a:gridCol>
                <a:gridCol w="2805702">
                  <a:extLst>
                    <a:ext uri="{9D8B030D-6E8A-4147-A177-3AD203B41FA5}">
                      <a16:colId xmlns:a16="http://schemas.microsoft.com/office/drawing/2014/main" val="3625270111"/>
                    </a:ext>
                  </a:extLst>
                </a:gridCol>
              </a:tblGrid>
              <a:tr h="235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598933"/>
                  </a:ext>
                </a:extLst>
              </a:tr>
              <a:tr h="400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Multi-task classification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One molecule → 12 outputs (bioactivity across targets)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169342"/>
                  </a:ext>
                </a:extLst>
              </a:tr>
              <a:tr h="400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Severe class imbalance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Very few Active vs many Inactive compounds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513851"/>
                  </a:ext>
                </a:extLst>
              </a:tr>
              <a:tr h="400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Feature representation problem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Fingerprints lose topological structure of molecules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49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01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3889E-9A22-0EC9-1A7D-23D03DC2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C0DA-FC8C-489B-98E3-D52A2294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APPROACH (materials &amp; methods)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0877F0-D01A-C071-40C6-6F5053E78D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1"/>
            <a:ext cx="11226390" cy="4936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Dataset Used</a:t>
            </a:r>
            <a:r>
              <a:rPr lang="en-US" sz="1600" dirty="0"/>
              <a:t>: </a:t>
            </a:r>
            <a:r>
              <a:rPr lang="en-US" sz="1600" b="1" dirty="0"/>
              <a:t>Tox21 (Toxicology in the 21st Century)</a:t>
            </a:r>
            <a:r>
              <a:rPr lang="en-US" sz="1600" dirty="0"/>
              <a:t> - public benchmark for predictive toxicology.</a:t>
            </a:r>
          </a:p>
          <a:p>
            <a:pPr lvl="1"/>
            <a:r>
              <a:rPr lang="en-US" sz="1600" b="1" dirty="0"/>
              <a:t>12 binary toxicity endpoints</a:t>
            </a:r>
            <a:r>
              <a:rPr lang="en-US" sz="1600" dirty="0"/>
              <a:t> (Nuclear Receptors + Stress Response pathways)</a:t>
            </a:r>
          </a:p>
          <a:p>
            <a:pPr lvl="1"/>
            <a:r>
              <a:rPr lang="fr-FR" sz="1600" b="1" dirty="0"/>
              <a:t>~8,000 unique compounds</a:t>
            </a:r>
            <a:r>
              <a:rPr lang="fr-FR" sz="1600" dirty="0"/>
              <a:t> (SMILES / SDF) with a </a:t>
            </a:r>
            <a:r>
              <a:rPr lang="en-IN" sz="1600" b="1" dirty="0"/>
              <a:t>multi-task, multi-label</a:t>
            </a:r>
            <a:r>
              <a:rPr lang="en-IN" sz="1600" dirty="0"/>
              <a:t> setup</a:t>
            </a:r>
          </a:p>
          <a:p>
            <a:pPr lvl="1"/>
            <a:r>
              <a:rPr lang="en-US" sz="1600" b="1" dirty="0"/>
              <a:t>Strong class imbalance</a:t>
            </a:r>
            <a:r>
              <a:rPr lang="en-US" sz="1600" dirty="0"/>
              <a:t> (far fewer actives than inactives)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Approach</a:t>
            </a:r>
            <a:r>
              <a:rPr lang="en-US" sz="1600" dirty="0"/>
              <a:t>: From Baseline → Optimization → Deep Learning (flowchart)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E7EBA-561B-D9D8-DD4E-102AA6A9A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" t="8639" r="3506" b="8275"/>
          <a:stretch>
            <a:fillRect/>
          </a:stretch>
        </p:blipFill>
        <p:spPr>
          <a:xfrm>
            <a:off x="2347093" y="3582217"/>
            <a:ext cx="7570840" cy="286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2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84E8E-14BA-E918-360F-3D52B2D7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0ADB-9ABA-D229-09EF-63CF1CE5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APPROACH (materials &amp; methods)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325E0A-0E3B-A28A-E174-77CE0F9630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1"/>
            <a:ext cx="5688013" cy="4936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Metrics Used</a:t>
            </a:r>
            <a:r>
              <a:rPr lang="en-US" dirty="0"/>
              <a:t>:</a:t>
            </a:r>
          </a:p>
          <a:p>
            <a:r>
              <a:rPr lang="en-IN" b="1" dirty="0"/>
              <a:t>ROC-AUC</a:t>
            </a:r>
            <a:r>
              <a:rPr lang="en-IN" dirty="0"/>
              <a:t>: </a:t>
            </a:r>
            <a:r>
              <a:rPr lang="en-US" dirty="0"/>
              <a:t>How well the model separates Active vs Inactive compounds</a:t>
            </a:r>
            <a:endParaRPr lang="en-IN" dirty="0"/>
          </a:p>
          <a:p>
            <a:r>
              <a:rPr lang="en-IN" b="1" dirty="0"/>
              <a:t>PR-AUC</a:t>
            </a:r>
            <a:r>
              <a:rPr lang="en-IN" dirty="0"/>
              <a:t>: </a:t>
            </a:r>
            <a:r>
              <a:rPr lang="en-US" dirty="0"/>
              <a:t>Performance under severe class imbalance</a:t>
            </a:r>
            <a:endParaRPr lang="en-IN" dirty="0"/>
          </a:p>
          <a:p>
            <a:r>
              <a:rPr lang="en-IN" b="1" dirty="0"/>
              <a:t>F1 Score</a:t>
            </a:r>
            <a:r>
              <a:rPr lang="en-IN" dirty="0"/>
              <a:t>: Balance between precision &amp; recall</a:t>
            </a:r>
          </a:p>
          <a:p>
            <a:r>
              <a:rPr lang="en-IN" b="1" dirty="0"/>
              <a:t>Precision/Recall</a:t>
            </a:r>
            <a:r>
              <a:rPr lang="en-IN" dirty="0"/>
              <a:t>: </a:t>
            </a:r>
            <a:r>
              <a:rPr lang="en-US" dirty="0"/>
              <a:t>False positives vs false negatives trade-off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/>
              <a:t>How results are analysed:</a:t>
            </a:r>
          </a:p>
          <a:p>
            <a:r>
              <a:rPr lang="en-IN" dirty="0"/>
              <a:t>Compare metrics across models:</a:t>
            </a:r>
          </a:p>
          <a:p>
            <a:pPr lvl="1"/>
            <a:r>
              <a:rPr lang="en-IN" dirty="0"/>
              <a:t>Baseline ML → Optimized ML → GNN</a:t>
            </a:r>
          </a:p>
          <a:p>
            <a:r>
              <a:rPr lang="en-IN" dirty="0"/>
              <a:t>Visual comparisons:</a:t>
            </a:r>
          </a:p>
          <a:p>
            <a:pPr lvl="1"/>
            <a:r>
              <a:rPr lang="da-DK" dirty="0"/>
              <a:t>Bar plots for ROC-AUC/PR-AUC</a:t>
            </a:r>
          </a:p>
          <a:p>
            <a:pPr lvl="1"/>
            <a:r>
              <a:rPr lang="en-IN" dirty="0"/>
              <a:t>Training time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4E1E18-0B71-4150-19A3-337608EB0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31" y="1436327"/>
            <a:ext cx="5009535" cy="500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1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5254-ED30-BC80-E7CB-9A835D964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DA55-CA30-99D3-B6E4-F1883191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99" y="412137"/>
            <a:ext cx="9958029" cy="640080"/>
          </a:xfrm>
        </p:spPr>
        <p:txBody>
          <a:bodyPr>
            <a:noAutofit/>
          </a:bodyPr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Implementation </a:t>
            </a:r>
            <a:r>
              <a:rPr lang="en-IN" dirty="0"/>
              <a:t>(Baseline: SVM &amp; Random Forest)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5DC29BB-36BE-C805-9E77-52C5DE5E4C3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44500" y="1234308"/>
                <a:ext cx="5688013" cy="521155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1600" b="1" dirty="0"/>
                  <a:t>Support Vector Machine</a:t>
                </a:r>
                <a:r>
                  <a:rPr lang="en-IN" sz="1600" dirty="0"/>
                  <a:t>: </a:t>
                </a:r>
                <a:r>
                  <a:rPr lang="en-US" sz="1600" dirty="0"/>
                  <a:t>Find an optimal decision boundary that separates </a:t>
                </a:r>
                <a:r>
                  <a:rPr lang="en-US" sz="1600" b="1" dirty="0"/>
                  <a:t>Active</a:t>
                </a:r>
                <a:r>
                  <a:rPr lang="en-US" sz="1600" dirty="0"/>
                  <a:t> vs </a:t>
                </a:r>
                <a:r>
                  <a:rPr lang="en-US" sz="1600" b="1" dirty="0"/>
                  <a:t>Inactive</a:t>
                </a:r>
                <a:r>
                  <a:rPr lang="en-US" sz="1600" dirty="0"/>
                  <a:t> molecules using molecular fingerprints (ECFP vector)</a:t>
                </a:r>
              </a:p>
              <a:p>
                <a:pPr marL="0" indent="0">
                  <a:buNone/>
                </a:pPr>
                <a:r>
                  <a:rPr lang="en-US" sz="1600" dirty="0"/>
                  <a:t>Each molecule is represented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IN" sz="1600"/>
                        <m:t>ECFP</m:t>
                      </m:r>
                      <m:r>
                        <m:rPr>
                          <m:nor/>
                        </m:rPr>
                        <a:rPr lang="en-IN" sz="1600"/>
                        <m:t> </m:t>
                      </m:r>
                      <m:r>
                        <m:rPr>
                          <m:nor/>
                        </m:rPr>
                        <a:rPr lang="en-IN" sz="1600"/>
                        <m:t>fingerprint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SVM computes a nonlinear decision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𝑟𝑏𝑓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𝑘𝑒𝑟𝑛𝑒𝑙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IN" sz="1600" dirty="0"/>
                  <a:t>The classifier solves: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f>
                            <m:f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IN" sz="1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/>
                  <a:t>Outcome:</a:t>
                </a:r>
                <a:r>
                  <a:rPr lang="en-US" sz="1600" dirty="0"/>
                  <a:t> For each molecule </a:t>
                </a:r>
                <a14:m>
                  <m:oMath xmlns:m="http://schemas.openxmlformats.org/officeDocument/2006/math">
                    <m:r>
                      <a:rPr lang="en-US" sz="1600" i="1"/>
                      <m:t>𝑥</m:t>
                    </m:r>
                  </m:oMath>
                </a14:m>
                <a:r>
                  <a:rPr lang="en-US" sz="1600" dirty="0"/>
                  <a:t>, SVM outputs: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𝑠𝑔𝑛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are slack variables </a:t>
                </a:r>
                <a:r>
                  <a:rPr lang="en-IN" sz="1600" dirty="0"/>
                  <a:t>for incorrect classifications</a:t>
                </a:r>
                <a:endParaRPr lang="en-US" sz="16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5DC29BB-36BE-C805-9E77-52C5DE5E4C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44500" y="1234308"/>
                <a:ext cx="5688013" cy="5211555"/>
              </a:xfrm>
              <a:blipFill>
                <a:blip r:embed="rId3"/>
                <a:stretch>
                  <a:fillRect l="-643" t="-351" r="-5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E45C6F-B483-0DC2-ED2D-1B760B1847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2514" y="1234308"/>
                <a:ext cx="5862842" cy="52115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1600" b="1" dirty="0"/>
                  <a:t>Random Forest</a:t>
                </a:r>
                <a:r>
                  <a:rPr lang="en-IN" sz="1600" dirty="0"/>
                  <a:t>: </a:t>
                </a:r>
                <a:r>
                  <a:rPr lang="en-US" sz="1600" dirty="0"/>
                  <a:t>Learn decision rules from fingerprint bits to classify bioactivity.</a:t>
                </a:r>
              </a:p>
              <a:p>
                <a:pPr marL="0" indent="0">
                  <a:buNone/>
                </a:pPr>
                <a:r>
                  <a:rPr lang="en-US" sz="1600" dirty="0"/>
                  <a:t>Each tree partitions molecular space based on fingerprint features: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𝑠𝑝𝑙𝑖𝑡</m:t>
                      </m:r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600" b="1" dirty="0"/>
              </a:p>
              <a:p>
                <a:pPr marL="0" indent="0">
                  <a:buNone/>
                </a:pPr>
                <a:r>
                  <a:rPr lang="en-IN" sz="1600" dirty="0"/>
                  <a:t>Forest prediction: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1600" b="0" dirty="0"/>
              </a:p>
              <a:p>
                <a:pPr marL="0" indent="0">
                  <a:buNone/>
                </a:pPr>
                <a:r>
                  <a:rPr lang="en-IN"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600" dirty="0"/>
                  <a:t> prediction from the tree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1600" dirty="0"/>
                  <a:t>,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sz="1600" dirty="0"/>
                  <a:t> is number of trees</a:t>
                </a:r>
              </a:p>
              <a:p>
                <a:pPr marL="0" indent="0">
                  <a:buNone/>
                </a:pPr>
                <a:r>
                  <a:rPr lang="en-US" sz="1600" dirty="0"/>
                  <a:t>RF probability output (for Active class):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𝐴𝑐𝑡𝑖𝑣𝑒</m:t>
                          </m:r>
                        </m:e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𝐴𝑐𝑡𝑖𝑣𝑒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IN" sz="1600" b="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What outputs from these models tell us:</a:t>
                </a:r>
                <a:endParaRPr lang="en-IN" sz="1600" b="0" dirty="0"/>
              </a:p>
              <a:p>
                <a:pPr lvl="1"/>
                <a:r>
                  <a:rPr lang="en-US" dirty="0"/>
                  <a:t>SVM gives </a:t>
                </a:r>
                <a:r>
                  <a:rPr lang="en-US" b="1" dirty="0"/>
                  <a:t>decision boundary</a:t>
                </a:r>
                <a:r>
                  <a:rPr lang="en-US" dirty="0"/>
                  <a:t> → helps understand separability limits of descriptor space.</a:t>
                </a:r>
              </a:p>
              <a:p>
                <a:pPr lvl="1"/>
                <a:r>
                  <a:rPr lang="en-US" dirty="0"/>
                  <a:t>RF gives </a:t>
                </a:r>
                <a:r>
                  <a:rPr lang="en-US" b="1" dirty="0"/>
                  <a:t>feature importance rankings</a:t>
                </a:r>
                <a:r>
                  <a:rPr lang="en-US" dirty="0"/>
                  <a:t> → used later for interpretability &amp; optimization.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E45C6F-B483-0DC2-ED2D-1B760B184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514" y="1234308"/>
                <a:ext cx="5862842" cy="5211555"/>
              </a:xfrm>
              <a:prstGeom prst="rect">
                <a:avLst/>
              </a:prstGeom>
              <a:blipFill>
                <a:blip r:embed="rId4"/>
                <a:stretch>
                  <a:fillRect l="-624" t="-351" b="-5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83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41777-8867-0599-C8F2-952E7F7E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90927-8A58-077A-B031-144C2644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Implementation (</a:t>
            </a:r>
            <a:r>
              <a:rPr lang="en-IN" dirty="0"/>
              <a:t>Optimized RF &amp; XGBoost</a:t>
            </a: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307FA88-FF8A-DE3B-3C38-977F67C0AC5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44500" y="1234308"/>
                <a:ext cx="5688013" cy="521155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Handling Class Imbalance</a:t>
                </a:r>
                <a:r>
                  <a:rPr lang="en-US" sz="1600" dirty="0"/>
                  <a:t> using </a:t>
                </a:r>
                <a:r>
                  <a:rPr lang="en-US" sz="1600" b="1" dirty="0"/>
                  <a:t>SMOTE</a:t>
                </a:r>
              </a:p>
              <a:p>
                <a:pPr marL="0" indent="0">
                  <a:buNone/>
                </a:pPr>
                <a:r>
                  <a:rPr lang="en-US" sz="1600" dirty="0"/>
                  <a:t>SMOTE synthesizes new minority (Active) samples in the feature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𝑁𝑁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IN" sz="1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Where,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: </a:t>
                </a:r>
                <a:r>
                  <a:rPr lang="en-IN" sz="1600" dirty="0"/>
                  <a:t>minority (Active) sample, </a:t>
                </a:r>
              </a:p>
              <a:p>
                <a:pPr marL="0" indent="0">
                  <a:buNone/>
                </a:pPr>
                <a:r>
                  <a:rPr lang="en-IN" sz="1600" b="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𝑁𝑁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IN" sz="1600" dirty="0"/>
                  <a:t>: </a:t>
                </a:r>
                <a:r>
                  <a:rPr lang="en-US" sz="1600" dirty="0"/>
                  <a:t>nearest neighbor in minority class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RF - Hyperparameter Optimization</a:t>
                </a:r>
                <a:r>
                  <a:rPr lang="en-IN" sz="1600" dirty="0"/>
                  <a:t> (Optuna search)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𝑣𝑎𝑙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sz="1600" dirty="0"/>
              </a:p>
              <a:p>
                <a:pPr marL="0" indent="0">
                  <a:buNone/>
                </a:pPr>
                <a:r>
                  <a:rPr lang="en-IN" sz="1600" dirty="0"/>
                  <a:t>Where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𝑅𝐹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𝑝𝑎𝑟𝑎𝑚𝑒𝑡𝑒𝑟𝑠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𝑡𝑟𝑒𝑒𝑠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𝑡𝑟𝑒𝑒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𝑑𝑒𝑝𝑡h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, …}</m:t>
                    </m:r>
                  </m:oMath>
                </a14:m>
                <a:endParaRPr lang="en-IN" sz="1600" dirty="0"/>
              </a:p>
              <a:p>
                <a:pPr marL="0" indent="0">
                  <a:buNone/>
                </a:pPr>
                <a:r>
                  <a:rPr lang="en-IN" sz="1600" dirty="0"/>
                  <a:t>The objective returns: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6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𝐴𝑈</m:t>
                              </m:r>
                              <m:sSub>
                                <m:sSub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𝑣𝑎𝑙𝑖𝑑𝑎𝑡𝑖𝑜𝑛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IN" sz="1600" b="0" dirty="0"/>
              </a:p>
              <a:p>
                <a:pPr marL="0" indent="0">
                  <a:buNone/>
                </a:pPr>
                <a:r>
                  <a:rPr lang="en-US" sz="1600" dirty="0"/>
                  <a:t>Since Tox21 is severely imbalanced, we optimize using </a:t>
                </a:r>
                <a:r>
                  <a:rPr lang="en-US" sz="1600" b="1" dirty="0"/>
                  <a:t>PR-AUC</a:t>
                </a:r>
                <a:r>
                  <a:rPr lang="en-US" sz="1600" dirty="0"/>
                  <a:t> rather than accuracy.</a:t>
                </a:r>
                <a:endParaRPr lang="en-IN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307FA88-FF8A-DE3B-3C38-977F67C0AC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44500" y="1234308"/>
                <a:ext cx="5688013" cy="5211555"/>
              </a:xfrm>
              <a:blipFill>
                <a:blip r:embed="rId3"/>
                <a:stretch>
                  <a:fillRect l="-643" t="-3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13814-FB0D-6413-0E36-D6A8463236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2514" y="1234308"/>
                <a:ext cx="5862842" cy="52115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b="1" dirty="0"/>
                  <a:t>XGBoost</a:t>
                </a:r>
                <a:r>
                  <a:rPr lang="en-IN" dirty="0"/>
                  <a:t> (Gradient Boosted Trees)</a:t>
                </a:r>
              </a:p>
              <a:p>
                <a:pPr marL="0" indent="0">
                  <a:buNone/>
                </a:pPr>
                <a:r>
                  <a:rPr lang="en-US" b="1" dirty="0"/>
                  <a:t>Learns trees sequentially</a:t>
                </a:r>
                <a:r>
                  <a:rPr lang="en-US" dirty="0"/>
                  <a:t>, minimizing the loss at each boosting round.</a:t>
                </a:r>
              </a:p>
              <a:p>
                <a:pPr marL="0" indent="0">
                  <a:buNone/>
                </a:pPr>
                <a:r>
                  <a:rPr lang="en-IN" dirty="0"/>
                  <a:t>Model prediction: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/>
                  <a:t>Training minimizes: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/>
                  <a:t>Where, 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IN" dirty="0"/>
                  <a:t>: </a:t>
                </a:r>
                <a:r>
                  <a:rPr lang="en-US" dirty="0"/>
                  <a:t>loss (logistic loss for classification)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</a:t>
                </a:r>
                <a:r>
                  <a:rPr lang="en-IN" dirty="0"/>
                  <a:t>model complexity penalty)</a:t>
                </a:r>
              </a:p>
              <a:p>
                <a:pPr marL="0" indent="0">
                  <a:buNone/>
                </a:pPr>
                <a:r>
                  <a:rPr lang="en-IN" dirty="0"/>
                  <a:t>	T: number of leaves,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IN" dirty="0"/>
                  <a:t>: leaf weights</a:t>
                </a:r>
              </a:p>
              <a:p>
                <a:pPr marL="0" indent="0">
                  <a:buNone/>
                </a:pPr>
                <a:r>
                  <a:rPr lang="en-US" dirty="0"/>
                  <a:t>Leaf-wise update rule (core of XGBoost)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Where,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: </a:t>
                </a:r>
                <a:r>
                  <a:rPr lang="en-US" dirty="0"/>
                  <a:t>first derivative (gradient) of loss </a:t>
                </a:r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: second derivative (Hessian)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13814-FB0D-6413-0E36-D6A846323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514" y="1234308"/>
                <a:ext cx="5862842" cy="5211555"/>
              </a:xfrm>
              <a:prstGeom prst="rect">
                <a:avLst/>
              </a:prstGeom>
              <a:blipFill>
                <a:blip r:embed="rId4"/>
                <a:stretch>
                  <a:fillRect l="-312" t="-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65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9B77-7B21-9306-BA56-F94650C6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A484-0C83-E73F-67BA-164ECC88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1550856" cy="6400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Implementation (</a:t>
            </a:r>
            <a:r>
              <a:rPr lang="en-IN" dirty="0"/>
              <a:t>DL: GraphConv → GAT</a:t>
            </a:r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1EE7EC1-5A31-2671-6CA3-CE78F86E9D8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44500" y="1234308"/>
                <a:ext cx="5688013" cy="521155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1600" b="1" dirty="0"/>
                  <a:t>Molecules as Graphs</a:t>
                </a:r>
                <a:r>
                  <a:rPr lang="en-IN" sz="1600" dirty="0"/>
                  <a:t>: </a:t>
                </a:r>
                <a:r>
                  <a:rPr lang="en-US" sz="1600" dirty="0"/>
                  <a:t>Every molecule is converted into a graph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IN" sz="1600" b="0" dirty="0"/>
              </a:p>
              <a:p>
                <a:pPr marL="0" indent="0">
                  <a:buNone/>
                </a:pPr>
                <a:r>
                  <a:rPr lang="en-IN" sz="1600" b="1" dirty="0"/>
                  <a:t>GraphConv</a:t>
                </a:r>
                <a:r>
                  <a:rPr lang="en-IN" sz="1600" dirty="0"/>
                  <a:t> (Message Passing Neural Network)</a:t>
                </a:r>
              </a:p>
              <a:p>
                <a:pPr marL="0" indent="0">
                  <a:buNone/>
                </a:pPr>
                <a:r>
                  <a:rPr lang="en-US" sz="1600" dirty="0"/>
                  <a:t>Message passing updates node (atom) embeddings layer by layer: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Where, 	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600" dirty="0"/>
                  <a:t>: neighbors of atom </a:t>
                </a:r>
                <a14:m>
                  <m:oMath xmlns:m="http://schemas.openxmlformats.org/officeDocument/2006/math">
                    <m:r>
                      <a:rPr lang="en-US" i="1"/>
                      <m:t>𝑣</m:t>
                    </m:r>
                  </m:oMath>
                </a14:m>
                <a:r>
                  <a:rPr lang="en-US" sz="1600" dirty="0"/>
                  <a:t>(bonded atoms)</a:t>
                </a:r>
              </a:p>
              <a:p>
                <a:pPr marL="0" indent="0">
                  <a:buNone/>
                </a:pP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1600" dirty="0"/>
                  <a:t>: feature of neighbor atom </a:t>
                </a:r>
                <a14:m>
                  <m:oMath xmlns:m="http://schemas.openxmlformats.org/officeDocument/2006/math">
                    <m:r>
                      <a:rPr lang="en-US" i="1"/>
                      <m:t>𝑢</m:t>
                    </m:r>
                  </m:oMath>
                </a14:m>
                <a:r>
                  <a:rPr lang="en-US" sz="1600" dirty="0"/>
                  <a:t> at layer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1600" dirty="0"/>
                  <a:t>,</a:t>
                </a:r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1600" dirty="0"/>
                  <a:t>: </a:t>
                </a:r>
                <a:r>
                  <a:rPr lang="en-IN" sz="1600" dirty="0"/>
                  <a:t>learnable weights,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sz="1600" dirty="0"/>
                  <a:t>: activation (</a:t>
                </a:r>
                <a:r>
                  <a:rPr lang="en-IN" sz="1600" dirty="0" err="1"/>
                  <a:t>ReLU</a:t>
                </a:r>
                <a:r>
                  <a:rPr lang="en-IN" sz="1600" dirty="0"/>
                  <a:t>)</a:t>
                </a:r>
              </a:p>
              <a:p>
                <a:pPr marL="0" indent="0">
                  <a:buNone/>
                </a:pPr>
                <a:r>
                  <a:rPr lang="en-IN" sz="1600" dirty="0"/>
                  <a:t>After multiple layers and pooling:</a:t>
                </a:r>
              </a:p>
              <a:p>
                <a:pPr marL="0" indent="0">
                  <a:buNone/>
                </a:pPr>
                <a:r>
                  <a:rPr lang="en-IN" sz="1600" dirty="0"/>
                  <a:t>		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Sup>
                          <m:sSubSup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d>
                              <m:d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IN" sz="1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𝑝𝑜𝑜𝑙𝑖𝑛𝑔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IN" sz="1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𝑊𝑧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1EE7EC1-5A31-2671-6CA3-CE78F86E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44500" y="1234308"/>
                <a:ext cx="5688013" cy="5211555"/>
              </a:xfrm>
              <a:blipFill>
                <a:blip r:embed="rId3"/>
                <a:stretch>
                  <a:fillRect l="-643" t="-351" r="-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03E90-5387-9BCF-0847-BE459250D2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2514" y="1234308"/>
                <a:ext cx="5862842" cy="52115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en-US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b="1" dirty="0"/>
                  <a:t>GAT</a:t>
                </a:r>
                <a:r>
                  <a:rPr lang="en-IN" dirty="0"/>
                  <a:t> (Graph Attention Network): </a:t>
                </a:r>
                <a:r>
                  <a:rPr lang="en-US" dirty="0"/>
                  <a:t>Instead of treating all neighbors equally, GAT </a:t>
                </a:r>
                <a:r>
                  <a:rPr lang="en-US" b="1" dirty="0"/>
                  <a:t>assigns learned attention weights</a:t>
                </a:r>
                <a:r>
                  <a:rPr lang="en-US" dirty="0"/>
                  <a:t> to neighbors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Attention coefficients: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𝑣𝑘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Node update: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𝑢𝑣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Important</a:t>
                </a:r>
                <a:r>
                  <a:rPr lang="en-IN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𝑢𝑣</m:t>
                        </m:r>
                      </m:sub>
                    </m:sSub>
                  </m:oMath>
                </a14:m>
                <a:r>
                  <a:rPr lang="en-US" dirty="0"/>
                  <a:t>​ tells us </a:t>
                </a:r>
                <a:r>
                  <a:rPr lang="en-US" b="1" dirty="0"/>
                  <a:t>which atoms matter</a:t>
                </a:r>
                <a:r>
                  <a:rPr lang="en-US" dirty="0"/>
                  <a:t> for bioactivity. This introduces </a:t>
                </a:r>
                <a:r>
                  <a:rPr lang="en-US" b="1" dirty="0"/>
                  <a:t>interpretability</a:t>
                </a:r>
                <a:r>
                  <a:rPr lang="en-US" dirty="0"/>
                  <a:t> into the model.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Output of this stage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GraphConv learns structure. GAT learns structure + importance.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03E90-5387-9BCF-0847-BE459250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514" y="1234308"/>
                <a:ext cx="5862842" cy="5211555"/>
              </a:xfrm>
              <a:prstGeom prst="rect">
                <a:avLst/>
              </a:prstGeom>
              <a:blipFill>
                <a:blip r:embed="rId4"/>
                <a:stretch>
                  <a:fillRect l="-312" t="-117" r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07FB61-F7D7-AE8E-BBD7-B0EF6BF56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372935"/>
              </p:ext>
            </p:extLst>
          </p:nvPr>
        </p:nvGraphicFramePr>
        <p:xfrm>
          <a:off x="6219928" y="4903063"/>
          <a:ext cx="5390893" cy="108442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18391">
                  <a:extLst>
                    <a:ext uri="{9D8B030D-6E8A-4147-A177-3AD203B41FA5}">
                      <a16:colId xmlns:a16="http://schemas.microsoft.com/office/drawing/2014/main" val="2166326037"/>
                    </a:ext>
                  </a:extLst>
                </a:gridCol>
                <a:gridCol w="4172502">
                  <a:extLst>
                    <a:ext uri="{9D8B030D-6E8A-4147-A177-3AD203B41FA5}">
                      <a16:colId xmlns:a16="http://schemas.microsoft.com/office/drawing/2014/main" val="583663526"/>
                    </a:ext>
                  </a:extLst>
                </a:gridCol>
              </a:tblGrid>
              <a:tr h="36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6727576"/>
                  </a:ext>
                </a:extLst>
              </a:tr>
              <a:tr h="36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GraphConv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Learns structural (topological)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985063"/>
                  </a:ext>
                </a:extLst>
              </a:tr>
              <a:tr h="36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Learns which atoms contribute most to bioactivity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550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27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8E604-9A2D-5411-4E2C-C0AB7FB1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B496-8404-CC83-E381-8AE0FA36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1550856" cy="640080"/>
          </a:xfrm>
        </p:spPr>
        <p:txBody>
          <a:bodyPr>
            <a:normAutofit/>
          </a:bodyPr>
          <a:lstStyle/>
          <a:p>
            <a:r>
              <a:rPr lang="en-IN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Intermediate results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EAB816D-61E5-014C-4481-15FE79E01AB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499" y="1234308"/>
            <a:ext cx="11550855" cy="5211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For </a:t>
            </a:r>
            <a:r>
              <a:rPr lang="en-US" sz="1200" b="1" dirty="0"/>
              <a:t>baseline ML models</a:t>
            </a:r>
            <a:r>
              <a:rPr lang="en-US" sz="1200" dirty="0"/>
              <a:t>, RF and SVM (model comparison done for a single task)	</a:t>
            </a:r>
            <a:r>
              <a:rPr lang="en-US" sz="1200" b="1" dirty="0"/>
              <a:t>Train time </a:t>
            </a:r>
            <a:r>
              <a:rPr lang="en-US" sz="1200" dirty="0"/>
              <a:t>comparison per task (RF vs SVM)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6C0DA-61A2-F564-18B0-17FF5958E5BD}"/>
              </a:ext>
            </a:extLst>
          </p:cNvPr>
          <p:cNvSpPr txBox="1">
            <a:spLocks/>
          </p:cNvSpPr>
          <p:nvPr/>
        </p:nvSpPr>
        <p:spPr>
          <a:xfrm>
            <a:off x="6132514" y="1234308"/>
            <a:ext cx="5862842" cy="5211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641F0-AFFF-369B-8D57-93DB31C93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97" y="1536292"/>
            <a:ext cx="5282900" cy="26016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3D39F1-7BC6-8272-6216-502500DCB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926" y="1536291"/>
            <a:ext cx="5203262" cy="2601631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7D700EF-EFF0-A2EC-5D93-9FE62E6A0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13708"/>
              </p:ext>
            </p:extLst>
          </p:nvPr>
        </p:nvGraphicFramePr>
        <p:xfrm>
          <a:off x="962126" y="4320014"/>
          <a:ext cx="10515600" cy="16459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57011776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729263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297287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1648066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7869501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33762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138438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68934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Model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Accuracy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Precision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Recall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F1-Score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ROC-AUC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PR-AUC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Train Time (s)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98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Random Forest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0.9298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0.0886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0.1376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0.6895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0.2324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038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SVM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0.3361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128.16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754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28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B93BD-D095-1182-5B17-66C5EB6F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1E6D-1693-BF6A-1139-9E9FB9FD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1550856" cy="640080"/>
          </a:xfrm>
        </p:spPr>
        <p:txBody>
          <a:bodyPr>
            <a:normAutofit/>
          </a:bodyPr>
          <a:lstStyle/>
          <a:p>
            <a:r>
              <a:rPr lang="en-IN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Intermediate results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6668F4-7396-C4A5-C910-D356B8B735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499" y="1234308"/>
            <a:ext cx="5688015" cy="5211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Optimized RF and XGBoost - mean score comparison 	</a:t>
            </a:r>
            <a:r>
              <a:rPr lang="en-US" sz="1200" dirty="0"/>
              <a:t>	   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Across Baseline and Optimized Models (for four tasks)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Improvement Over Baseline </a:t>
            </a:r>
            <a:r>
              <a:rPr lang="en-US" sz="1200" dirty="0"/>
              <a:t>(Mean Across 4 Tasks)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2CB3-E4DB-A0F5-DD23-13459AA16BD7}"/>
              </a:ext>
            </a:extLst>
          </p:cNvPr>
          <p:cNvSpPr txBox="1">
            <a:spLocks/>
          </p:cNvSpPr>
          <p:nvPr/>
        </p:nvSpPr>
        <p:spPr>
          <a:xfrm>
            <a:off x="6132514" y="1234308"/>
            <a:ext cx="5862842" cy="5211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A352A-1ADF-8B27-FD1C-0E8FF7F6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5" y="1847848"/>
            <a:ext cx="4456651" cy="2228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DE9420-AFBC-5508-6FC1-0E078922A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291" y="1474675"/>
            <a:ext cx="5382834" cy="269141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4614EC-D23E-A5D1-DE04-38D837751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603736"/>
              </p:ext>
            </p:extLst>
          </p:nvPr>
        </p:nvGraphicFramePr>
        <p:xfrm>
          <a:off x="6266291" y="4911646"/>
          <a:ext cx="5221287" cy="130206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40429">
                  <a:extLst>
                    <a:ext uri="{9D8B030D-6E8A-4147-A177-3AD203B41FA5}">
                      <a16:colId xmlns:a16="http://schemas.microsoft.com/office/drawing/2014/main" val="1132188017"/>
                    </a:ext>
                  </a:extLst>
                </a:gridCol>
                <a:gridCol w="1740429">
                  <a:extLst>
                    <a:ext uri="{9D8B030D-6E8A-4147-A177-3AD203B41FA5}">
                      <a16:colId xmlns:a16="http://schemas.microsoft.com/office/drawing/2014/main" val="3520613437"/>
                    </a:ext>
                  </a:extLst>
                </a:gridCol>
                <a:gridCol w="1740429">
                  <a:extLst>
                    <a:ext uri="{9D8B030D-6E8A-4147-A177-3AD203B41FA5}">
                      <a16:colId xmlns:a16="http://schemas.microsoft.com/office/drawing/2014/main" val="3222031824"/>
                    </a:ext>
                  </a:extLst>
                </a:gridCol>
              </a:tblGrid>
              <a:tr h="36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ROC-AUC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PR-AUC (mean)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481524"/>
                  </a:ext>
                </a:extLst>
              </a:tr>
              <a:tr h="36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GraphConv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0.7154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0.2517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967535"/>
                  </a:ext>
                </a:extLst>
              </a:tr>
              <a:tr h="361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0.7302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0.2185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6534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D7C389-3411-61B0-A80C-635FE9AFB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797365"/>
              </p:ext>
            </p:extLst>
          </p:nvPr>
        </p:nvGraphicFramePr>
        <p:xfrm>
          <a:off x="444497" y="4689714"/>
          <a:ext cx="4930932" cy="16459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61640">
                  <a:extLst>
                    <a:ext uri="{9D8B030D-6E8A-4147-A177-3AD203B41FA5}">
                      <a16:colId xmlns:a16="http://schemas.microsoft.com/office/drawing/2014/main" val="587729901"/>
                    </a:ext>
                  </a:extLst>
                </a:gridCol>
                <a:gridCol w="1792950">
                  <a:extLst>
                    <a:ext uri="{9D8B030D-6E8A-4147-A177-3AD203B41FA5}">
                      <a16:colId xmlns:a16="http://schemas.microsoft.com/office/drawing/2014/main" val="2530337873"/>
                    </a:ext>
                  </a:extLst>
                </a:gridCol>
                <a:gridCol w="1876342">
                  <a:extLst>
                    <a:ext uri="{9D8B030D-6E8A-4147-A177-3AD203B41FA5}">
                      <a16:colId xmlns:a16="http://schemas.microsoft.com/office/drawing/2014/main" val="1669850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Metric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RF Improvement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XGB Improvement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44039"/>
                  </a:ext>
                </a:extLst>
              </a:tr>
              <a:tr h="232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−0.75%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−0.20%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080121"/>
                  </a:ext>
                </a:extLst>
              </a:tr>
              <a:tr h="232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+62.05%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+46.49%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063523"/>
                  </a:ext>
                </a:extLst>
              </a:tr>
              <a:tr h="232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+5.87%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+6.03%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0476955"/>
                  </a:ext>
                </a:extLst>
              </a:tr>
              <a:tr h="232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+9.16%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+10.95%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392827"/>
                  </a:ext>
                </a:extLst>
              </a:tr>
            </a:tbl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49E602B-1CD4-A4D0-C89D-95CD3C499CC0}"/>
              </a:ext>
            </a:extLst>
          </p:cNvPr>
          <p:cNvSpPr txBox="1">
            <a:spLocks/>
          </p:cNvSpPr>
          <p:nvPr/>
        </p:nvSpPr>
        <p:spPr>
          <a:xfrm>
            <a:off x="6132514" y="1234308"/>
            <a:ext cx="5688015" cy="5211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GNN Results </a:t>
            </a:r>
            <a:r>
              <a:rPr lang="en-US" sz="1200" dirty="0"/>
              <a:t>(Across all tasks):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						</a:t>
            </a:r>
            <a:r>
              <a:rPr lang="en-US" sz="1200" dirty="0"/>
              <a:t>      </a:t>
            </a:r>
            <a:r>
              <a:rPr lang="en-US" sz="1200" b="1" dirty="0"/>
              <a:t>Mean scores </a:t>
            </a:r>
            <a:r>
              <a:rPr lang="en-US" sz="1200" dirty="0"/>
              <a:t>(Across all tasks):</a:t>
            </a:r>
          </a:p>
        </p:txBody>
      </p:sp>
    </p:spTree>
    <p:extLst>
      <p:ext uri="{BB962C8B-B14F-4D97-AF65-F5344CB8AC3E}">
        <p14:creationId xmlns:p14="http://schemas.microsoft.com/office/powerpoint/2010/main" val="257578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2E883-12D2-98D3-E195-66310F3C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A2CF-9EFC-EAF5-577E-FA16FD8C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1550856" cy="640080"/>
          </a:xfrm>
        </p:spPr>
        <p:txBody>
          <a:bodyPr>
            <a:normAutofit/>
          </a:bodyPr>
          <a:lstStyle/>
          <a:p>
            <a:r>
              <a:rPr lang="en-IN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KEY LEARNING &amp; CHALLENGES SOLVED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3130D9-5DBF-5878-80A3-AE6E142438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499" y="1234308"/>
            <a:ext cx="11376030" cy="5211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Challenges and learning</a:t>
            </a:r>
          </a:p>
          <a:p>
            <a:r>
              <a:rPr lang="en-US" sz="1600" dirty="0"/>
              <a:t>Bioactivity dataset was </a:t>
            </a:r>
            <a:r>
              <a:rPr lang="en-US" sz="1600" b="1" dirty="0"/>
              <a:t>highly imbalanced</a:t>
            </a:r>
            <a:r>
              <a:rPr lang="en-US" sz="1600" dirty="0"/>
              <a:t> (very few Active molecules). Solved using </a:t>
            </a:r>
            <a:r>
              <a:rPr lang="en-US" sz="1600" b="1" dirty="0"/>
              <a:t>SMOTE oversampling</a:t>
            </a:r>
            <a:r>
              <a:rPr lang="en-US" sz="1600" dirty="0"/>
              <a:t> + </a:t>
            </a:r>
            <a:r>
              <a:rPr lang="en-US" sz="1600" b="1" dirty="0"/>
              <a:t>cost-sensitive learning</a:t>
            </a:r>
            <a:r>
              <a:rPr lang="en-US" sz="1600" dirty="0"/>
              <a:t>.</a:t>
            </a:r>
          </a:p>
          <a:p>
            <a:r>
              <a:rPr lang="en-US" sz="1600" dirty="0"/>
              <a:t>Baseline ML (RF/SVM) gave </a:t>
            </a:r>
            <a:r>
              <a:rPr lang="en-US" sz="1600" b="1" dirty="0"/>
              <a:t>high accuracy but low recall</a:t>
            </a:r>
            <a:r>
              <a:rPr lang="en-US" sz="1600" dirty="0"/>
              <a:t>, meaning actives were missed. </a:t>
            </a:r>
            <a:r>
              <a:rPr lang="en-IN" sz="1600" dirty="0"/>
              <a:t>Hyperparameter search (Optuna) improved </a:t>
            </a:r>
            <a:r>
              <a:rPr lang="en-IN" sz="1600" b="1" dirty="0"/>
              <a:t>Recall, F1, ROC-AUC and PR-AUC</a:t>
            </a:r>
            <a:r>
              <a:rPr lang="en-IN" sz="1600" dirty="0"/>
              <a:t>.</a:t>
            </a:r>
          </a:p>
          <a:p>
            <a:r>
              <a:rPr lang="en-US" sz="1600" dirty="0"/>
              <a:t>XGBoost outperformed RF in </a:t>
            </a:r>
            <a:r>
              <a:rPr lang="en-US" sz="1600" b="1" dirty="0"/>
              <a:t>PR-AUC and ROC-AUC</a:t>
            </a:r>
            <a:r>
              <a:rPr lang="en-US" sz="1600" dirty="0"/>
              <a:t>, confirming effectiveness on sparse chemical fingerprints.</a:t>
            </a:r>
          </a:p>
          <a:p>
            <a:r>
              <a:rPr lang="en-US" sz="1600" dirty="0"/>
              <a:t>GraphConv/GAT performed better in </a:t>
            </a:r>
            <a:r>
              <a:rPr lang="en-US" sz="1600" b="1" dirty="0"/>
              <a:t>generalization across tasks</a:t>
            </a:r>
            <a:r>
              <a:rPr lang="en-US" sz="1600" dirty="0"/>
              <a:t>. </a:t>
            </a:r>
            <a:r>
              <a:rPr lang="en-US" sz="1600" b="1" dirty="0"/>
              <a:t>GAT gives the highest ROC-AUC value</a:t>
            </a:r>
            <a:r>
              <a:rPr lang="en-US" sz="1600" dirty="0"/>
              <a:t>.</a:t>
            </a:r>
          </a:p>
          <a:p>
            <a:r>
              <a:rPr lang="en-US" sz="1600" dirty="0"/>
              <a:t>Observed that </a:t>
            </a:r>
            <a:r>
              <a:rPr lang="en-US" sz="1600" b="1" dirty="0"/>
              <a:t>the attention mechanism (GAT) improves the </a:t>
            </a:r>
            <a:r>
              <a:rPr lang="en-US" sz="1600" dirty="0"/>
              <a:t>learning of structural molecular features.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Key takeaways</a:t>
            </a:r>
          </a:p>
          <a:p>
            <a:r>
              <a:rPr lang="en-US" sz="1600" dirty="0"/>
              <a:t>Optimizing ML models required </a:t>
            </a:r>
            <a:r>
              <a:rPr lang="en-US" sz="1600" b="1" dirty="0"/>
              <a:t>balancing recall vs precision</a:t>
            </a:r>
            <a:r>
              <a:rPr lang="en-US" sz="1600" dirty="0"/>
              <a:t>.</a:t>
            </a:r>
          </a:p>
          <a:p>
            <a:r>
              <a:rPr lang="en-US" sz="1600" dirty="0"/>
              <a:t>GNNs demonstrated </a:t>
            </a:r>
            <a:r>
              <a:rPr lang="en-US" sz="1600" b="1" dirty="0"/>
              <a:t>better chemical structure awareness</a:t>
            </a:r>
            <a:r>
              <a:rPr lang="en-US" sz="1600" dirty="0"/>
              <a:t> than ECFP+ML models.</a:t>
            </a:r>
          </a:p>
          <a:p>
            <a:r>
              <a:rPr lang="en-US" sz="1600" dirty="0"/>
              <a:t>ML is fast &amp; interpretable; GNN is powerful &amp; scalable.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11B28-1232-3C00-CC86-32EF447CB9F6}"/>
              </a:ext>
            </a:extLst>
          </p:cNvPr>
          <p:cNvSpPr txBox="1">
            <a:spLocks/>
          </p:cNvSpPr>
          <p:nvPr/>
        </p:nvSpPr>
        <p:spPr>
          <a:xfrm>
            <a:off x="6132514" y="1234308"/>
            <a:ext cx="5862842" cy="5211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3AC54EC-E0A9-0CBD-04C9-A720E5053208}"/>
              </a:ext>
            </a:extLst>
          </p:cNvPr>
          <p:cNvSpPr txBox="1">
            <a:spLocks/>
          </p:cNvSpPr>
          <p:nvPr/>
        </p:nvSpPr>
        <p:spPr>
          <a:xfrm>
            <a:off x="6132514" y="1234308"/>
            <a:ext cx="5688015" cy="5211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09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60E1-8D9B-FB0F-CCC7-086D23A8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AD05-4B9B-68A6-0318-7EBC812B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11550856" cy="640080"/>
          </a:xfrm>
        </p:spPr>
        <p:txBody>
          <a:bodyPr>
            <a:normAutofit/>
          </a:bodyPr>
          <a:lstStyle/>
          <a:p>
            <a:r>
              <a:rPr lang="en-IN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Future steps and References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5028C8-A413-A87A-6B62-78D25C58E7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499" y="1234308"/>
            <a:ext cx="11376030" cy="5211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Future Steps</a:t>
            </a:r>
          </a:p>
          <a:p>
            <a:r>
              <a:rPr lang="en-US" sz="1600" b="1" dirty="0"/>
              <a:t>Explore a hybrid ML + DL framework: </a:t>
            </a:r>
            <a:r>
              <a:rPr lang="en-US" sz="1600" dirty="0"/>
              <a:t>Combine the strengths of classical ML models with GNNs to build a meta-model that </a:t>
            </a:r>
            <a:r>
              <a:rPr lang="en-US" sz="1600" dirty="0" err="1"/>
              <a:t>utilises</a:t>
            </a:r>
            <a:r>
              <a:rPr lang="en-US" sz="1600" dirty="0"/>
              <a:t> fingerprints + learned graph embeddings.</a:t>
            </a:r>
          </a:p>
          <a:p>
            <a:r>
              <a:rPr lang="en-IN" sz="1600" dirty="0"/>
              <a:t>Investigate model-level optimization</a:t>
            </a:r>
          </a:p>
          <a:p>
            <a:pPr lvl="1"/>
            <a:r>
              <a:rPr lang="en-US" sz="1600" dirty="0"/>
              <a:t>Evaluate techniques like </a:t>
            </a:r>
            <a:r>
              <a:rPr lang="en-US" sz="1600" b="1" dirty="0"/>
              <a:t>feature selection + dimensionality reduction</a:t>
            </a:r>
            <a:r>
              <a:rPr lang="en-US" sz="1600" dirty="0"/>
              <a:t> before SVM/ML models.</a:t>
            </a:r>
          </a:p>
          <a:p>
            <a:pPr lvl="1"/>
            <a:r>
              <a:rPr lang="en-US" sz="1600" dirty="0"/>
              <a:t>Experiment with </a:t>
            </a:r>
            <a:r>
              <a:rPr lang="en-US" sz="1600" b="1" dirty="0"/>
              <a:t>GNN hyperparameter tuning</a:t>
            </a:r>
            <a:r>
              <a:rPr lang="en-US" sz="1600" dirty="0"/>
              <a:t> (GIN depth, attention heads, dropout, learning rate schedules) to improve performance &amp; reduce training time.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References</a:t>
            </a:r>
            <a:r>
              <a:rPr lang="en-US" sz="1600" dirty="0"/>
              <a:t> </a:t>
            </a:r>
          </a:p>
          <a:p>
            <a:r>
              <a:rPr lang="en-US" sz="1600" dirty="0"/>
              <a:t>“Toxicology in the 21st Century (Tox21)” - Dataset description (NIH/NCATS public documentation)</a:t>
            </a:r>
          </a:p>
          <a:p>
            <a:r>
              <a:rPr lang="en-IN" sz="1600" dirty="0"/>
              <a:t>Chawla, N. V., et al. (2002). </a:t>
            </a:r>
            <a:r>
              <a:rPr lang="en-IN" sz="1600" i="1" dirty="0"/>
              <a:t>SMOTE: Synthetic Minority Over-sampling Technique.</a:t>
            </a:r>
          </a:p>
          <a:p>
            <a:r>
              <a:rPr lang="it-IT" sz="1600" dirty="0"/>
              <a:t>Optuna Documentation — </a:t>
            </a:r>
            <a:r>
              <a:rPr lang="it-IT" sz="1600" dirty="0">
                <a:hlinkClick r:id="rId3"/>
              </a:rPr>
              <a:t>https://optuna.org/</a:t>
            </a:r>
            <a:endParaRPr lang="it-IT" sz="1600" dirty="0"/>
          </a:p>
          <a:p>
            <a:r>
              <a:rPr lang="en-US" sz="1600" dirty="0"/>
              <a:t>Kipf, T. N., &amp; Welling, M. (2017). </a:t>
            </a:r>
            <a:r>
              <a:rPr lang="en-US" sz="1600" i="1" dirty="0"/>
              <a:t>Semi-Supervised Classification with Graph Convolutional Networks.</a:t>
            </a:r>
          </a:p>
          <a:p>
            <a:r>
              <a:rPr lang="en-IN" sz="1600" dirty="0" err="1"/>
              <a:t>Veličković</a:t>
            </a:r>
            <a:r>
              <a:rPr lang="en-IN" sz="1600" dirty="0"/>
              <a:t>, P. et al. (2018). </a:t>
            </a:r>
            <a:r>
              <a:rPr lang="en-IN" sz="1600" i="1" dirty="0"/>
              <a:t>Graph Attention Networks.</a:t>
            </a:r>
            <a:endParaRPr lang="nl-NL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F9D8-BB5E-1DEA-9B4E-E2465B43692C}"/>
              </a:ext>
            </a:extLst>
          </p:cNvPr>
          <p:cNvSpPr txBox="1">
            <a:spLocks/>
          </p:cNvSpPr>
          <p:nvPr/>
        </p:nvSpPr>
        <p:spPr>
          <a:xfrm>
            <a:off x="6132514" y="1234308"/>
            <a:ext cx="5862842" cy="5211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CF48B70-FB4C-7298-AA73-F7DBE15F46A4}"/>
              </a:ext>
            </a:extLst>
          </p:cNvPr>
          <p:cNvSpPr txBox="1">
            <a:spLocks/>
          </p:cNvSpPr>
          <p:nvPr/>
        </p:nvSpPr>
        <p:spPr>
          <a:xfrm>
            <a:off x="6132514" y="1234308"/>
            <a:ext cx="5688015" cy="5211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448837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</TotalTime>
  <Words>1726</Words>
  <Application>Microsoft Office PowerPoint</Application>
  <PresentationFormat>Widescreen</PresentationFormat>
  <Paragraphs>302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 Next LT Pro Light</vt:lpstr>
      <vt:lpstr>Calibri</vt:lpstr>
      <vt:lpstr>Cambria Math</vt:lpstr>
      <vt:lpstr>Segoe UI Semibold</vt:lpstr>
      <vt:lpstr>1_Office Theme</vt:lpstr>
      <vt:lpstr>Molecular Bioactivity Prediction </vt:lpstr>
      <vt:lpstr>Introduction</vt:lpstr>
      <vt:lpstr>MOTIVATION/context</vt:lpstr>
      <vt:lpstr>PROBLEM STATEMENT &amp; PROJECT GOALS</vt:lpstr>
      <vt:lpstr>APPROACH (materials &amp; methods)</vt:lpstr>
      <vt:lpstr>APPROACH (materials &amp; methods)</vt:lpstr>
      <vt:lpstr>Implementation (Baseline: SVM &amp; Random Forest)</vt:lpstr>
      <vt:lpstr>Implementation (Optimized RF &amp; XGBoost)</vt:lpstr>
      <vt:lpstr>Implementation (DL: GraphConv → GAT)</vt:lpstr>
      <vt:lpstr>Intermediate results</vt:lpstr>
      <vt:lpstr>Intermediate results</vt:lpstr>
      <vt:lpstr>KEY LEARNING &amp; CHALLENGES SOLVED</vt:lpstr>
      <vt:lpstr>Future steps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sayyam palrecha</dc:creator>
  <cp:lastModifiedBy>sayyam palrecha</cp:lastModifiedBy>
  <cp:revision>2</cp:revision>
  <dcterms:created xsi:type="dcterms:W3CDTF">2025-11-01T10:10:59Z</dcterms:created>
  <dcterms:modified xsi:type="dcterms:W3CDTF">2025-11-02T18:03:05Z</dcterms:modified>
</cp:coreProperties>
</file>